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2" y="5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78240" y="960120"/>
            <a:ext cx="1280160" cy="14630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92640" y="1417320"/>
            <a:ext cx="1280160" cy="146304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07040" y="1874519"/>
            <a:ext cx="1280160" cy="146304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AGILECAMPUS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轻敏捷 · 分层 AI · 成果沉淀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69080"/>
            <a:ext cx="1508760" cy="457200"/>
          </a:xfrm>
          <a:prstGeom prst="roundRect">
            <a:avLst>
              <a:gd name="adj" fmla="val 8000"/>
            </a:avLst>
          </a:prstGeom>
          <a:solidFill>
            <a:srgbClr val="172B52"/>
          </a:solidFill>
          <a:ln w="12700">
            <a:solidFill>
              <a:srgbClr val="3A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9D4E8"/>
                </a:solidFill>
                <a:latin typeface="微软雅黑" panose="020B0503020204020204" charset="-122"/>
                <a:ea typeface="微软雅黑" panose="020B0503020204020204" charset="-122"/>
              </a:rPr>
              <a:t>课程团队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069080"/>
            <a:ext cx="1508760" cy="457200"/>
          </a:xfrm>
          <a:prstGeom prst="roundRect">
            <a:avLst>
              <a:gd name="adj" fmla="val 8000"/>
            </a:avLst>
          </a:prstGeom>
          <a:solidFill>
            <a:srgbClr val="172B52"/>
          </a:solidFill>
          <a:ln w="12700">
            <a:solidFill>
              <a:srgbClr val="3A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416052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9D4E8"/>
                </a:solidFill>
                <a:latin typeface="微软雅黑" panose="020B0503020204020204" charset="-122"/>
                <a:ea typeface="微软雅黑" panose="020B0503020204020204" charset="-122"/>
              </a:rPr>
              <a:t>竞赛团队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069080"/>
            <a:ext cx="1508760" cy="457200"/>
          </a:xfrm>
          <a:prstGeom prst="roundRect">
            <a:avLst>
              <a:gd name="adj" fmla="val 8000"/>
            </a:avLst>
          </a:prstGeom>
          <a:solidFill>
            <a:srgbClr val="172B52"/>
          </a:solidFill>
          <a:ln w="12700">
            <a:solidFill>
              <a:srgbClr val="3A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416052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9D4E8"/>
                </a:solidFill>
                <a:latin typeface="微软雅黑" panose="020B0503020204020204" charset="-122"/>
                <a:ea typeface="微软雅黑" panose="020B0503020204020204" charset="-122"/>
              </a:rPr>
              <a:t>实验室团队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892040"/>
            <a:ext cx="2011680" cy="2743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9C4D9"/>
                </a:solidFill>
                <a:latin typeface="微软雅黑" panose="020B0503020204020204" charset="-122"/>
                <a:ea typeface="微软雅黑" panose="020B0503020204020204" charset="-122"/>
              </a:rPr>
              <a:t>开题汇报 · 2026.09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7336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F9DBC"/>
                </a:solidFill>
                <a:latin typeface="微软雅黑" panose="020B0503020204020204" charset="-122"/>
                <a:ea typeface="微软雅黑" panose="020B0503020204020204" charset="-122"/>
              </a:rPr>
              <a:t>让敏捷从产业走向教育 —— 以低门槛建立清晰、持续、可追踪的项目协作流程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01 · 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为什么做 AgileCampus？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现状 — 痛点 — 对标 — 趋势 — 契机，一条完整的问题链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212848" cy="59436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788920"/>
            <a:ext cx="1883664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课程、竞赛、实验室项目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靠微信群 + 在线文档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+ 线下组会推进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5496" y="192024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25496" y="1920240"/>
            <a:ext cx="2212848" cy="59436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25496" y="205740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788920"/>
            <a:ext cx="1883664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目标不清晰 · 拆解不足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进度不透明 · 信息分散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成果难沉淀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8072" y="192024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48072" y="1920240"/>
            <a:ext cx="2212848" cy="594360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48072" y="205740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企业工具太重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2788920"/>
            <a:ext cx="1883664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Jira、PingCode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配置字段繁杂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师生学习成本高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0648" y="192024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70648" y="1920240"/>
            <a:ext cx="2212848" cy="59436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0648" y="205740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趋势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788920"/>
            <a:ext cx="1883664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敏捷教学 Agile Education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OBE 成果导向 + PBL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敏捷从产业走向教育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93224" y="192024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93224" y="1920240"/>
            <a:ext cx="2212848" cy="59436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93224" y="205740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契机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2788920"/>
            <a:ext cx="1883664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Scrum 与看板可借鉴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需轻量化改造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后适配高校场景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0B44D-001F-7621-FDB2-6D5AE3E79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7B4CC6-91CB-1F52-EDF2-766C16BF529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A1CC1-4D8A-552E-D989-B92D3A3202B8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FC0B5-53E5-B424-9924-65ECFDC79413}"/>
              </a:ext>
            </a:extLst>
          </p:cNvPr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B973D-EB76-19D8-E48C-C17829096F12}"/>
              </a:ext>
            </a:extLst>
          </p:cNvPr>
          <p:cNvSpPr txBox="1"/>
          <p:nvPr/>
        </p:nvSpPr>
        <p:spPr>
          <a:xfrm>
            <a:off x="731520" y="256032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· 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组员</a:t>
            </a:r>
            <a:r>
              <a:rPr lang="zh-CN" altLang="en-US" sz="1300" b="1" dirty="0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分工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8A3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B758E-9108-F5F1-E066-96A6A4CECCA6}"/>
              </a:ext>
            </a:extLst>
          </p:cNvPr>
          <p:cNvSpPr txBox="1"/>
          <p:nvPr/>
        </p:nvSpPr>
        <p:spPr>
          <a:xfrm>
            <a:off x="731520" y="566928"/>
            <a:ext cx="107899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合理安排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 </a:t>
            </a: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团队和谐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·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FF5E0-F85D-4B5D-3E9F-2DE81A9841B5}"/>
              </a:ext>
            </a:extLst>
          </p:cNvPr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AgileCampus · 高校轻量化敏捷项目管理平台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EA76F-6334-D4AA-2442-477CFFC614B3}"/>
              </a:ext>
            </a:extLst>
          </p:cNvPr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2026.09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4B75FB-094C-0143-1180-A18D2A10C5FE}"/>
              </a:ext>
            </a:extLst>
          </p:cNvPr>
          <p:cNvSpPr/>
          <p:nvPr/>
        </p:nvSpPr>
        <p:spPr>
          <a:xfrm>
            <a:off x="502920" y="196596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6648CE-BB9F-7544-B1EA-80C634BA3F7A}"/>
              </a:ext>
            </a:extLst>
          </p:cNvPr>
          <p:cNvSpPr/>
          <p:nvPr/>
        </p:nvSpPr>
        <p:spPr>
          <a:xfrm>
            <a:off x="502920" y="1965960"/>
            <a:ext cx="64008" cy="3977639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AD0BB3-58AA-4C24-25B2-A3BBCE2536E2}"/>
              </a:ext>
            </a:extLst>
          </p:cNvPr>
          <p:cNvSpPr txBox="1"/>
          <p:nvPr/>
        </p:nvSpPr>
        <p:spPr>
          <a:xfrm>
            <a:off x="722376" y="2112264"/>
            <a:ext cx="320954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F1F3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46E22-8079-495F-B18B-DDF5F0D61ABB}"/>
              </a:ext>
            </a:extLst>
          </p:cNvPr>
          <p:cNvSpPr txBox="1"/>
          <p:nvPr/>
        </p:nvSpPr>
        <p:spPr>
          <a:xfrm>
            <a:off x="722376" y="2551176"/>
            <a:ext cx="3209544" cy="28586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b="1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后端开发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5A64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数据库设计与搭建</a:t>
            </a: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编写</a:t>
            </a:r>
            <a:r>
              <a:rPr lang="en-US" altLang="zh-CN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A64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核心逻辑撰写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5A64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50" b="0" i="0" u="none" strike="noStrike" kern="1200" cap="none" spc="0" normalizeH="0" baseline="0" noProof="0" dirty="0">
              <a:ln>
                <a:noFill/>
              </a:ln>
              <a:solidFill>
                <a:srgbClr val="5A64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5A64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6213303-B3E9-C972-E12F-466E8673D184}"/>
              </a:ext>
            </a:extLst>
          </p:cNvPr>
          <p:cNvSpPr/>
          <p:nvPr/>
        </p:nvSpPr>
        <p:spPr>
          <a:xfrm>
            <a:off x="4297680" y="196596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FA9295-6981-15BB-A659-580CFEA9EB51}"/>
              </a:ext>
            </a:extLst>
          </p:cNvPr>
          <p:cNvSpPr/>
          <p:nvPr/>
        </p:nvSpPr>
        <p:spPr>
          <a:xfrm>
            <a:off x="4297680" y="1965960"/>
            <a:ext cx="64008" cy="3977639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5EC5BC-4BFC-4AAE-70F9-475FDAB90EC2}"/>
              </a:ext>
            </a:extLst>
          </p:cNvPr>
          <p:cNvSpPr txBox="1"/>
          <p:nvPr/>
        </p:nvSpPr>
        <p:spPr>
          <a:xfrm>
            <a:off x="4517136" y="2112264"/>
            <a:ext cx="320954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 dirty="0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F1F3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392D8C-03DE-709B-0ED1-DB124DBBC8B1}"/>
              </a:ext>
            </a:extLst>
          </p:cNvPr>
          <p:cNvSpPr txBox="1"/>
          <p:nvPr/>
        </p:nvSpPr>
        <p:spPr>
          <a:xfrm>
            <a:off x="4517136" y="2551176"/>
            <a:ext cx="3209544" cy="2595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ct val="112000"/>
              </a:lnSpc>
              <a:spcAft>
                <a:spcPts val="500"/>
              </a:spcAft>
              <a:defRPr/>
            </a:pPr>
            <a:r>
              <a:rPr lang="zh-CN" altLang="en-US" sz="1600" b="1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前端开发</a:t>
            </a: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en-US" altLang="zh-CN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UI</a:t>
            </a: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原型与设计</a:t>
            </a: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页面美观</a:t>
            </a: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数据渲染</a:t>
            </a: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rgbClr val="5A64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3B7E9AE-F0AC-F9B8-61E0-44D2086BA723}"/>
              </a:ext>
            </a:extLst>
          </p:cNvPr>
          <p:cNvSpPr/>
          <p:nvPr/>
        </p:nvSpPr>
        <p:spPr>
          <a:xfrm>
            <a:off x="8092440" y="196596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32E724-EB22-196B-2BAE-DA02768E684E}"/>
              </a:ext>
            </a:extLst>
          </p:cNvPr>
          <p:cNvSpPr/>
          <p:nvPr/>
        </p:nvSpPr>
        <p:spPr>
          <a:xfrm>
            <a:off x="8092440" y="1965960"/>
            <a:ext cx="64008" cy="3977639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52FC94-0498-8299-ED9B-40C677DCE04A}"/>
              </a:ext>
            </a:extLst>
          </p:cNvPr>
          <p:cNvSpPr txBox="1"/>
          <p:nvPr/>
        </p:nvSpPr>
        <p:spPr>
          <a:xfrm>
            <a:off x="8311896" y="2112264"/>
            <a:ext cx="320954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F1F3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67E517-DBCE-4D6D-AA0A-BCB90AE63FC4}"/>
              </a:ext>
            </a:extLst>
          </p:cNvPr>
          <p:cNvSpPr txBox="1"/>
          <p:nvPr/>
        </p:nvSpPr>
        <p:spPr>
          <a:xfrm>
            <a:off x="8311896" y="2551176"/>
            <a:ext cx="3209544" cy="229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b="1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编写测试用例</a:t>
            </a: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接口测试</a:t>
            </a: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endParaRPr lang="en-US" altLang="zh-CN" sz="1600" dirty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12000"/>
              </a:lnSpc>
              <a:spcAft>
                <a:spcPts val="500"/>
              </a:spcAft>
            </a:pPr>
            <a:r>
              <a:rPr lang="zh-CN" altLang="en-US" sz="1600" dirty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功能测试</a:t>
            </a:r>
          </a:p>
        </p:txBody>
      </p:sp>
    </p:spTree>
    <p:extLst>
      <p:ext uri="{BB962C8B-B14F-4D97-AF65-F5344CB8AC3E}">
        <p14:creationId xmlns:p14="http://schemas.microsoft.com/office/powerpoint/2010/main" val="41423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03 · 平台定位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为谁服务 · 解决什么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面向高校实验室团队、课程团队、学科竞赛团队，覆盖项目全生命周期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64008" cy="196596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2112264"/>
            <a:ext cx="5038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学生侧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551176"/>
            <a:ext cx="5038344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明确目标 · 拆解任务 · 同步进度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沉淀答辩材料与个人作品集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低门槛上手，聚焦做事而非学工具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659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965960"/>
            <a:ext cx="64008" cy="1965960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2112264"/>
            <a:ext cx="5038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教师侧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551176"/>
            <a:ext cx="5038344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查看进展 · 发现风险 · 过程反馈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成果验收 + 节点审核（开题 / 中期 / 结题）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教学管理有据可依，评价不再只看结果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主流程：计划 — 执行 — 沟通 — 验收 — 沉淀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2628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7091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463600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52628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0" y="47091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63600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452628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47091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沟通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63600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52628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0" y="47091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463600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452628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64040" y="47091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沉淀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486400"/>
            <a:ext cx="11201400" cy="6858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6418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平台目标：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以低门槛建立清晰、持续、可追踪的项目协作流程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04 · 同类产品调研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竞品分析：太重 · 太散 · AI 单薄 · 不开放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3611880" cy="4572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53619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ONES 学生版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29968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＋ </a:t>
            </a:r>
            <a:r>
              <a:rPr sz="1200" b="0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敏捷流程完整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－ </a:t>
            </a: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偏企业场景、字段复杂；缺验收与作品集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611880" cy="45720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53619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飞书项目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29968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＋ </a:t>
            </a:r>
            <a:r>
              <a:rPr sz="1200" b="0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生态打通、上手快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－ </a:t>
            </a: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原生敏捷弱；无分层 AI 与开放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630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463040"/>
            <a:ext cx="3611880" cy="457200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153619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Trello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29968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＋ </a:t>
            </a:r>
            <a:r>
              <a:rPr sz="1200" b="0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极简看板、上手极快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－ </a:t>
            </a: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无迭代燃尽图、无 AI；国内访问不稳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10881360" cy="475488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12724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1272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ONES 学生版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1272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飞书项目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272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Trello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93008"/>
            <a:ext cx="10881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60273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敏捷流程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566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566160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✗</a:t>
            </a:r>
            <a:r>
              <a:rPr sz="16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66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</a:rPr>
              <a:t>✗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968496"/>
            <a:ext cx="10881360" cy="475488"/>
          </a:xfrm>
          <a:prstGeom prst="rect">
            <a:avLst/>
          </a:prstGeom>
          <a:solidFill>
            <a:srgbClr val="EFF3F9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上手成本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0416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</a:rPr>
              <a:t>✗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0416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0416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443984"/>
            <a:ext cx="10881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55371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AI 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4517136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✗</a:t>
            </a:r>
            <a:r>
              <a:rPr sz="16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507611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✗</a:t>
            </a:r>
            <a:endParaRPr sz="16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58200" y="451713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</a:rPr>
              <a:t>✗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919472"/>
            <a:ext cx="10881360" cy="475488"/>
          </a:xfrm>
          <a:prstGeom prst="rect">
            <a:avLst/>
          </a:prstGeom>
          <a:solidFill>
            <a:srgbClr val="EFF3F9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0292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开放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499262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</a:rPr>
              <a:t>✗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498373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</a:rPr>
              <a:t>✗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983734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✗</a:t>
            </a:r>
            <a:r>
              <a:rPr sz="16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394960"/>
            <a:ext cx="10881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550468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成果沉淀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06040" y="54681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</a:rPr>
              <a:t>✗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2120" y="54681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</a:rPr>
              <a:t>✗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4681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54D4D"/>
                </a:solidFill>
                <a:latin typeface="微软雅黑" panose="020B0503020204020204" charset="-122"/>
                <a:ea typeface="微软雅黑" panose="020B0503020204020204" charset="-122"/>
              </a:rPr>
              <a:t>✗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98017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✓ 具备    △ 部分具备    ✗ 缺失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0" y="5925312"/>
            <a:ext cx="6035040" cy="47548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97880" y="600760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共性结论：均不适配高校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05 · 用户调研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用数据验证需求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问卷 + 访谈 + 场景观察，三管齐下交叉验证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64008" cy="155448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E6FFF"/>
                </a:solidFill>
                <a:latin typeface="微软雅黑" panose="020B0503020204020204" charset="-122"/>
                <a:ea typeface="微软雅黑" panose="020B0503020204020204" charset="-122"/>
              </a:rPr>
              <a:t>216</a:t>
            </a:r>
            <a:r>
              <a:rPr sz="15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 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调研问卷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覆盖本科 / 研究生，含组长与组员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74519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874519"/>
            <a:ext cx="64008" cy="1554480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sz="15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 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974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深度访谈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学生组长 · 普通成员 · 教师 · 助教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74519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874519"/>
            <a:ext cx="64008" cy="155448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sz="15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 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974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场景观察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跟组会、看群聊、翻共享文档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03320"/>
            <a:ext cx="21396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2139696" cy="4572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785616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拆解乱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4306824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任务不知道怎么拆、怎么分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61488" y="3703320"/>
            <a:ext cx="21396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61488" y="3703320"/>
            <a:ext cx="2139696" cy="45720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61488" y="3785616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贡献难量化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4306824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干多干少说不清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0056" y="3703320"/>
            <a:ext cx="21396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0056" y="3703320"/>
            <a:ext cx="2139696" cy="4572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0056" y="3785616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无留存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4306824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资料散落群聊与文档中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78624" y="3703320"/>
            <a:ext cx="21396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78624" y="3703320"/>
            <a:ext cx="2139696" cy="45720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78624" y="3785616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门槛高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8" y="4306824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企业工具学不动、用不起来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37192" y="3703320"/>
            <a:ext cx="21396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537192" y="3703320"/>
            <a:ext cx="2139696" cy="4572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37192" y="3785616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缺智能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4306824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没有 AI 提醒与辅助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532120"/>
            <a:ext cx="11201400" cy="65836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566928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调研结论：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轻量可用 · 智能省心 · 可沉淀 —— 直接决定产品三大设计原则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06 · 需求分级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核心刚需 · 重要需求 · 创新亮点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先做扎实基础，再做锦上添花，创新点构建壁垒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64008" cy="3977639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2112264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核心刚需｜先能用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551176"/>
            <a:ext cx="3209544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轻量任务管理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创建 / 指派 / 截止 / 状态流转 / 子任务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endParaRPr sz="12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可视化看板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待办 / 进行中 / 待验收 / 已完成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endParaRPr sz="12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里程碑与学期节点 · 工时登记与进度统计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简洁权限：组长 / 成员 / 教师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6596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965960"/>
            <a:ext cx="64008" cy="3977639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17136" y="2112264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重要需求｜更好用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551176"/>
            <a:ext cx="3209544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团队贡献统计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文档归档与文件管理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站内消息 + 飞书通知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甘特图与项目时间线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轻量 Sprint 迭代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96596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965960"/>
            <a:ext cx="64008" cy="3977639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2112264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创新亮点｜建壁垒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551176"/>
            <a:ext cx="3209544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多层 AI 辅助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任务拆解 / 进度问答 / 风险预警 / 复盘总结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endParaRPr sz="12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Agent 开放写入 API · 作品集与简历导出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教师验收与节点审核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高校项目模板库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07 · 功能设计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核心创新：分层 AI 辅助体系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从个人效率 → 团队流程 → 教学监督 → 知识复用，层层递进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697480" cy="50292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L1 个人助手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78608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周报 · 优先级 · 摘要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个人效率层：替每个成员写周报、排优先级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92024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920240"/>
            <a:ext cx="2697480" cy="502920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20116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L2 AI Scrum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78608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站会 · 迭代 · 风险 · 复盘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3375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团队流程层：主持站会、跟迭代、预警风险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92024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1920240"/>
            <a:ext cx="2697480" cy="5029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20116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L3 监督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78608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过程评价 · 贡献度 · 健康度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375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教学监督层：给老师提供过程性评价依据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92024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06840" y="1920240"/>
            <a:ext cx="2697480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201168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L4 知识库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578608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模板推荐 · RAG 问答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3375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知识复用层：沉淀经验，新项目不从零开始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80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主流程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6460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02005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497433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30552" y="486460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30552" y="502005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里程碑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2152" y="497433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58184" y="486460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58184" y="502005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9784" y="497433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85816" y="486460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85816" y="502005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6" y="497433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13448" y="486460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13448" y="502005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周报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8" y="497433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1080" y="486460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41080" y="502005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497433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68712" y="486460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68712" y="502005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归档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每个环节都有 AI 兜底：不会拆任务 → AI 拆；忘了写周报 → AI 起草；进度落后 → AI 预警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08 · 差异化亮点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别人没有的，我们做成标配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从「管任务」升级到「管成果、管成长、管教学」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502920" y="192024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>
            <p:custDataLst>
              <p:tags r:id="rId2"/>
            </p:custDataLst>
          </p:nvPr>
        </p:nvSpPr>
        <p:spPr>
          <a:xfrm>
            <a:off x="502920" y="1920240"/>
            <a:ext cx="82296" cy="1874519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795528" y="217627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贡献度与匿名互评</a:t>
            </a: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795528" y="2761488"/>
            <a:ext cx="4846320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工时 + 任务完成度 + 同伴互评三合一，用数据说话，小组作业不再</a:t>
            </a:r>
            <a:r>
              <a:rPr lang="en-US"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摸鱼</a:t>
            </a:r>
            <a:r>
              <a:rPr lang="en-US"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zh-CN" altLang="en-US" sz="14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5"/>
            </p:custDataLst>
          </p:nvPr>
        </p:nvSpPr>
        <p:spPr>
          <a:xfrm>
            <a:off x="6263640" y="192024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>
            <p:custDataLst>
              <p:tags r:id="rId6"/>
            </p:custDataLst>
          </p:nvPr>
        </p:nvSpPr>
        <p:spPr>
          <a:xfrm>
            <a:off x="6263640" y="1920240"/>
            <a:ext cx="82296" cy="1874519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6556248" y="217627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作品集 / 简历一键导出</a:t>
            </a: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6556248" y="27614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项目成果、个人贡献自动聚合，直接生成答辩材料与求职作品集</a:t>
            </a:r>
          </a:p>
        </p:txBody>
      </p:sp>
      <p:sp>
        <p:nvSpPr>
          <p:cNvPr id="18" name="Rounded Rectangle 17"/>
          <p:cNvSpPr/>
          <p:nvPr>
            <p:custDataLst>
              <p:tags r:id="rId9"/>
            </p:custDataLst>
          </p:nvPr>
        </p:nvSpPr>
        <p:spPr>
          <a:xfrm>
            <a:off x="502920" y="402336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>
            <p:custDataLst>
              <p:tags r:id="rId10"/>
            </p:custDataLst>
          </p:nvPr>
        </p:nvSpPr>
        <p:spPr>
          <a:xfrm>
            <a:off x="502920" y="4023360"/>
            <a:ext cx="82296" cy="1874519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795528" y="42793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教师验收与节点审核</a:t>
            </a: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795528" y="486460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开题 · 中期 · 结题 · 答辩全程可追踪，过程性评价有据可依</a:t>
            </a:r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6263640" y="402336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>
            <p:custDataLst>
              <p:tags r:id="rId14"/>
            </p:custDataLst>
          </p:nvPr>
        </p:nvSpPr>
        <p:spPr>
          <a:xfrm>
            <a:off x="6263640" y="4023360"/>
            <a:ext cx="82296" cy="1874519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6556248" y="42793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竞赛日历 / 课程绑定</a:t>
            </a:r>
          </a:p>
        </p:txBody>
      </p:sp>
      <p:sp>
        <p:nvSpPr>
          <p:cNvPr id="25" name="TextBox 24"/>
          <p:cNvSpPr txBox="1"/>
          <p:nvPr>
            <p:custDataLst>
              <p:tags r:id="rId16"/>
            </p:custDataLst>
          </p:nvPr>
        </p:nvSpPr>
        <p:spPr>
          <a:xfrm>
            <a:off x="6556248" y="486460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项目自动对齐教学节奏与竞赛赛程，节点提醒不遗漏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09 · 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能力 × 开放生态 × 安全可靠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分层架构设计，AI 可控、数据可审计、生态可扩展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54406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64008" cy="3977639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2112264"/>
            <a:ext cx="5038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AI 能力栈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551176"/>
            <a:ext cx="5038344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分层 AI 演进：问答 → 文档 → 流程 → 轻量项目经理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RAG 知识库检索，模板与经验可复用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AI 产出经人工确认后落库，结果可控可追责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6596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965960"/>
            <a:ext cx="64008" cy="1874519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2112264"/>
            <a:ext cx="5038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生态集成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551176"/>
            <a:ext cx="5038344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飞书 OAuth 登录 + 消息推送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Webhook / GitHub 集成，代码进展自动同步到任务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69080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4069080"/>
            <a:ext cx="64008" cy="1874519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3096" y="4215384"/>
            <a:ext cx="5038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开放与安全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4654296"/>
            <a:ext cx="5038344" cy="1161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Agent 开放写入 API + 全量审计日志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第三方 Agent 可安全接入，平台不封闭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402336"/>
            <a:ext cx="82296" cy="51206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10 · 时间安排与总结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下一步怎么做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按教学节点倒排，试点验证后再全面铺开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高校轻量化敏捷项目管理平台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697480" cy="457200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02536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2026.09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调研与开题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问卷访谈 · 竞品分析 · 需求分级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697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9202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7560" y="1920240"/>
            <a:ext cx="2697480" cy="457200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2002536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2026.10–12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4203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核心开发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0175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任务 / 看板 / 里程碑 / 周报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697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9202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920240"/>
            <a:ext cx="2697480" cy="4572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2002536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2027.01–03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4203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试点迭代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175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分层 AI · 贡献互评 · 教师验收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697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19202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06840" y="1920240"/>
            <a:ext cx="269748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06840" y="2002536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2027.04–05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54203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结题答辩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0175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论文撰写 · 成果验收 · 答辩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114800"/>
            <a:ext cx="11201400" cy="594360"/>
          </a:xfrm>
          <a:prstGeom prst="roundRect">
            <a:avLst>
              <a:gd name="adj" fmla="val 8000"/>
            </a:avLst>
          </a:prstGeom>
          <a:solidFill>
            <a:srgbClr val="EFF3F9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242816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0F1F3D"/>
                </a:solidFill>
                <a:latin typeface="微软雅黑" panose="020B0503020204020204" charset="-122"/>
                <a:ea typeface="微软雅黑" panose="020B0503020204020204" charset="-122"/>
              </a:rPr>
              <a:t>关键节点：</a:t>
            </a:r>
            <a:r>
              <a:rPr sz="13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</a:rPr>
              <a:t>开题 · 中期 · 结题 · 答辩 · 竞赛截稿（系统内预设学期模板自动提醒）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93776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1206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轻敏捷 + 分层 AI + 成果沉淀 + 飞书生态 + 开放 API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把企业级敏捷，改造成师生真正用得起来的协作平台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78240" y="5394960"/>
            <a:ext cx="1280160" cy="12801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92640" y="5760720"/>
            <a:ext cx="1280160" cy="128016"/>
          </a:xfrm>
          <a:prstGeom prst="rect">
            <a:avLst/>
          </a:prstGeom>
          <a:solidFill>
            <a:srgbClr val="19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07040" y="6126480"/>
            <a:ext cx="1280160" cy="128016"/>
          </a:xfrm>
          <a:prstGeom prst="rect">
            <a:avLst/>
          </a:prstGeom>
          <a:solidFill>
            <a:srgbClr val="2E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9C2A6"/>
                </a:solidFill>
                <a:latin typeface="微软雅黑" panose="020B0503020204020204" charset="-122"/>
                <a:ea typeface="微软雅黑" panose="020B0503020204020204" charset="-122"/>
              </a:rPr>
              <a:t>AgileCampus · 让高校项目协作轻一点、聪明一点、留得下成果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60520"/>
            <a:ext cx="2011680" cy="2743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9992125984254,&quot;left&quot;:39.6,&quot;top&quot;:151.2,&quot;width&quot;:88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784</Words>
  <Application>Microsoft Office PowerPoint</Application>
  <PresentationFormat>宽屏</PresentationFormat>
  <Paragraphs>262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17321085853@163.com</cp:lastModifiedBy>
  <cp:revision>3</cp:revision>
  <dcterms:created xsi:type="dcterms:W3CDTF">2013-01-27T09:14:00Z</dcterms:created>
  <dcterms:modified xsi:type="dcterms:W3CDTF">2026-09-21T02:16:46Z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5D5F76FE07784D37BC24B450D5B5F6E4_12</vt:lpwstr>
  </property>
  <property fmtid="{D5CDD505-2E9C-101B-9397-08002B2CF9AE}" pid="3" name="KSOProductBuildVer">
    <vt:lpwstr>2052-12.1.0.28505</vt:lpwstr>
  </property>
</Properties>
</file>